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8939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project and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sections 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difference between Firewall and IDS. Stress layered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setup — all on same home Wi-Fi 192.168.100.x subnet.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7 rules configured via CMD as Administrator.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finding: Before — all open. After — all filtered. 100%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custom rules. 2 CRITICAL, 3 HIGH, 1 MEDIUM.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864 real alerts from actual Snort run. Show this during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Wireshark screenshot during demo. ICMP filter confirms ping sweep.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show dashboard, navigate to Live Snort Feed, show 864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MITRE ATT&amp;CK shows professional understanding of cybersecurity threat landscape.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 results. Emphasize 864 real alerts and 100% firewall effectiveness.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audience, invite questions. Ready for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5943600" y="54864"/>
            <a:ext cx="3200400" cy="5088636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5212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 &amp;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Intrusion Detection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C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Defender Firewall  +  Snort IDS  +  Wireshark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0" y="502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A9CC8"/>
                </a:solidFill>
              </a:rPr>
              <a:t>COURSE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0" y="7589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Assurance Lab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161288"/>
            <a:ext cx="2880360" cy="0"/>
          </a:xfrm>
          <a:prstGeom prst="line">
            <a:avLst/>
          </a:prstGeom>
          <a:noFill/>
          <a:ln w="6350">
            <a:solidFill>
              <a:srgbClr val="25355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6583680" y="1581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A9CC8"/>
                </a:solidFill>
              </a:rPr>
              <a:t>INSTRUCTOR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83680" y="183794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Shaheer Afzal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2240280"/>
            <a:ext cx="2880360" cy="0"/>
          </a:xfrm>
          <a:prstGeom prst="line">
            <a:avLst/>
          </a:prstGeom>
          <a:noFill/>
          <a:ln w="6350">
            <a:solidFill>
              <a:srgbClr val="25355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6583680" y="2660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A9CC8"/>
                </a:solidFill>
              </a:rPr>
              <a:t>UNIVERSITY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583680" y="29169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UMT Lahore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3319272"/>
            <a:ext cx="2880360" cy="0"/>
          </a:xfrm>
          <a:prstGeom prst="line">
            <a:avLst/>
          </a:prstGeom>
          <a:noFill/>
          <a:ln w="6350">
            <a:solidFill>
              <a:srgbClr val="25355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6583680" y="3739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A9CC8"/>
                </a:solidFill>
              </a:rPr>
              <a:t>SEMESTER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583680" y="3995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4th — BS Cybersecurity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Malik Abubakar  ·  Hafiz Bilal Zia  ·  Arslan Saeed  ·  Saad Iftikhar  ·  Mirza Abdullah Baig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463040" cy="246888"/>
          </a:xfrm>
          <a:prstGeom prst="roundRect">
            <a:avLst>
              <a:gd name="adj" fmla="val 25926"/>
            </a:avLst>
          </a:prstGeom>
          <a:solidFill>
            <a:srgbClr val="1E4DB7">
              <a:alpha val="12000"/>
            </a:srgbClr>
          </a:solidFill>
          <a:ln w="635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E4DB7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8321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4206240" cy="59436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78408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Introduction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" y="17007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 &amp; IDS concepts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066544"/>
            <a:ext cx="4206240" cy="59436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502920" y="21579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8408" y="2130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Lab Setup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78408" y="24140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network config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779776"/>
            <a:ext cx="4206240" cy="59436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502920" y="2871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🔥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78408" y="2843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Firewall Rules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78408" y="31272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rules configured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493008"/>
            <a:ext cx="4206240" cy="59436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502920" y="3584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78408" y="35570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Nmap Scanning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78408" y="38404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&amp; after results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4206240"/>
            <a:ext cx="4206240" cy="59436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50292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78408" y="4270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Snort IDS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78408" y="45537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custom rules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1353312"/>
            <a:ext cx="4206240" cy="59436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493776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🦈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13248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Wireshark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13248" y="17007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capture &amp; analysis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2066544"/>
            <a:ext cx="4206240" cy="59436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4937760" y="21579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13248" y="2130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SOC Dashboard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13248" y="24140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SIEM tool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2779776"/>
            <a:ext cx="4206240" cy="59436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4937760" y="2871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413248" y="2843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MITRE ATT&amp;CK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13248" y="31272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framework mapping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3493008"/>
            <a:ext cx="4206240" cy="59436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4937760" y="3584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413248" y="35570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Results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13248" y="38404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&amp; conclusion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463040" cy="246888"/>
          </a:xfrm>
          <a:prstGeom prst="roundRect">
            <a:avLst>
              <a:gd name="adj" fmla="val 25926"/>
            </a:avLst>
          </a:prstGeom>
          <a:solidFill>
            <a:srgbClr val="1E4DB7">
              <a:alpha val="12000"/>
            </a:srgbClr>
          </a:solidFill>
          <a:ln w="635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E4DB7"/>
                </a:solidFill>
              </a:rPr>
              <a:t>INTRODUCTION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Firewall &amp; IDS?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8321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2697480" cy="34290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2697480" cy="502920"/>
          </a:xfrm>
          <a:prstGeom prst="roundRect">
            <a:avLst>
              <a:gd name="adj" fmla="val 25455"/>
            </a:avLst>
          </a:prstGeom>
          <a:solidFill>
            <a:srgbClr val="1E4DB7">
              <a:alpha val="12000"/>
            </a:srgbClr>
          </a:solidFill>
          <a:ln w="635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521208" y="1389888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 Firewall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975104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incoming &amp; outgoing network traffic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63347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predefined rules to allow or block packets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line of defense against unauthorized access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95020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used: Windows Defender Firewall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64408" y="1371600"/>
            <a:ext cx="2697480" cy="34290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3264408" y="1371600"/>
            <a:ext cx="2697480" cy="502920"/>
          </a:xfrm>
          <a:prstGeom prst="roundRect">
            <a:avLst>
              <a:gd name="adj" fmla="val 25455"/>
            </a:avLst>
          </a:prstGeom>
          <a:solidFill>
            <a:srgbClr val="DC2626">
              <a:alpha val="12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3374136" y="1389888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IDS — Intrusion Detection System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01568" y="1975104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Monitors network traffic for suspicious patterns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01568" y="263347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Signature-based: matches known attack patterns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01568" y="32918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alerts when attack is detected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01568" y="395020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used: Snort 2.9.20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17336" y="1371600"/>
            <a:ext cx="2697480" cy="34290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6117336" y="1371600"/>
            <a:ext cx="2697480" cy="502920"/>
          </a:xfrm>
          <a:prstGeom prst="roundRect">
            <a:avLst>
              <a:gd name="adj" fmla="val 25455"/>
            </a:avLst>
          </a:prstGeom>
          <a:solidFill>
            <a:srgbClr val="059669">
              <a:alpha val="12000"/>
            </a:srgbClr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6227064" y="1389888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Why Both Together?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54496" y="1975104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 BLOCKS — IDS DETECTS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54496" y="263347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defense — more secure than one tool alone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54496" y="32918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catches what firewall might miss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54496" y="395020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standard: Defense-in-Depth approach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463040" cy="246888"/>
          </a:xfrm>
          <a:prstGeom prst="roundRect">
            <a:avLst>
              <a:gd name="adj" fmla="val 25926"/>
            </a:avLst>
          </a:prstGeom>
          <a:solidFill>
            <a:srgbClr val="1E4DB7">
              <a:alpha val="12000"/>
            </a:srgbClr>
          </a:solidFill>
          <a:ln w="635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E4DB7"/>
                </a:solidFill>
              </a:rPr>
              <a:t>LAB SETUP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Environment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8321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664208"/>
            <a:ext cx="429768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530352" y="179222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4DB7">
              <a:alpha val="15000"/>
            </a:srgbClr>
          </a:solidFill>
          <a:ln w="635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530352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🖥️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92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78992" y="20482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192.168.100.6  ·  Target — Firewall + IDS Host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487168"/>
            <a:ext cx="429768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30352" y="26151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30352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⚔️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8992" y="25786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 Linux VM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28712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192.168.100.15  ·  Attacker Machine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310128"/>
            <a:ext cx="429768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530352" y="34381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9E0B">
              <a:alpha val="15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530352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8992" y="3401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Device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8992" y="36941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192.168.100.75  ·  Secondary Attacker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133088"/>
            <a:ext cx="429768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530352" y="42611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15000"/>
            </a:srgbClr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530352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78992" y="42245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Router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78992" y="45171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192.168.100.1  ·  Network Gateway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83480" y="1664208"/>
            <a:ext cx="178308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4983480" y="17556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056632" y="2139696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Nmap 7.99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56632" y="237744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Scanning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03720" y="1664208"/>
            <a:ext cx="178308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6903720" y="17556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976872" y="2139696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Snort 2.9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76872" y="237744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83480" y="2779776"/>
            <a:ext cx="178308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4983480" y="28712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🦈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056632" y="3255264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Wireshark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56632" y="3493008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Capture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03720" y="2779776"/>
            <a:ext cx="178308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6903720" y="28712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🔥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976872" y="3255264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Defender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976872" y="3493008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983480" y="3895344"/>
            <a:ext cx="178308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5" name="Text 43"/>
          <p:cNvSpPr/>
          <p:nvPr/>
        </p:nvSpPr>
        <p:spPr>
          <a:xfrm>
            <a:off x="4983480" y="39867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5056632" y="437083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056632" y="4608576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Dashboard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903720" y="3895344"/>
            <a:ext cx="178308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9" name="Text 47"/>
          <p:cNvSpPr/>
          <p:nvPr/>
        </p:nvSpPr>
        <p:spPr>
          <a:xfrm>
            <a:off x="6903720" y="39867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976872" y="437083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VirtualBox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976872" y="4608576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Host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463040" cy="246888"/>
          </a:xfrm>
          <a:prstGeom prst="roundRect">
            <a:avLst>
              <a:gd name="adj" fmla="val 25926"/>
            </a:avLst>
          </a:prstGeom>
          <a:solidFill>
            <a:srgbClr val="1E4DB7">
              <a:alpha val="12000"/>
            </a:srgbClr>
          </a:solidFill>
          <a:ln w="635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E4DB7"/>
                </a:solidFill>
              </a:rPr>
              <a:t>FIREWALL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Defender Firewall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rules configured using netsh advfirewall commands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8321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8321040" cy="347472"/>
          </a:xfrm>
          <a:prstGeom prst="rect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Name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14813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0" y="14813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0" y="14813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1901952"/>
            <a:ext cx="83210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02920" y="190195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 Block Telnet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19019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23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190195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1975104"/>
            <a:ext cx="1188720" cy="256032"/>
          </a:xfrm>
          <a:prstGeom prst="roundRect">
            <a:avLst>
              <a:gd name="adj" fmla="val 25000"/>
            </a:avLst>
          </a:prstGeom>
          <a:solidFill>
            <a:srgbClr val="DC2626">
              <a:alpha val="12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949440" y="19751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340864"/>
            <a:ext cx="8321040" cy="402336"/>
          </a:xfrm>
          <a:prstGeom prst="rect">
            <a:avLst/>
          </a:prstGeom>
          <a:solidFill>
            <a:srgbClr val="F4F7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502920" y="234086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Allow HTTP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0" y="234086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80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234086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0" y="2414016"/>
            <a:ext cx="1188720" cy="256032"/>
          </a:xfrm>
          <a:prstGeom prst="roundRect">
            <a:avLst>
              <a:gd name="adj" fmla="val 25000"/>
            </a:avLst>
          </a:prstGeom>
          <a:solidFill>
            <a:srgbClr val="059669">
              <a:alpha val="12000"/>
            </a:srgbClr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6949440" y="24140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2779776"/>
            <a:ext cx="83210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502920" y="277977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Allow HTTPS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0" y="277977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443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277977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49440" y="2852928"/>
            <a:ext cx="1188720" cy="256032"/>
          </a:xfrm>
          <a:prstGeom prst="roundRect">
            <a:avLst>
              <a:gd name="adj" fmla="val 25000"/>
            </a:avLst>
          </a:prstGeom>
          <a:solidFill>
            <a:srgbClr val="059669">
              <a:alpha val="12000"/>
            </a:srgbClr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6949440" y="28529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218688"/>
            <a:ext cx="8321040" cy="402336"/>
          </a:xfrm>
          <a:prstGeom prst="rect">
            <a:avLst/>
          </a:prstGeom>
          <a:solidFill>
            <a:srgbClr val="F4F7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502920" y="321868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 Block FTP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0" y="321868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21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321868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49440" y="3291840"/>
            <a:ext cx="1188720" cy="256032"/>
          </a:xfrm>
          <a:prstGeom prst="roundRect">
            <a:avLst>
              <a:gd name="adj" fmla="val 25000"/>
            </a:avLst>
          </a:prstGeom>
          <a:solidFill>
            <a:srgbClr val="DC2626">
              <a:alpha val="12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6949440" y="32918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3657600"/>
            <a:ext cx="83210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502920" y="365760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 Block MySQL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0" y="36576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3306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12080" y="36576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49440" y="3730752"/>
            <a:ext cx="1188720" cy="256032"/>
          </a:xfrm>
          <a:prstGeom prst="roundRect">
            <a:avLst>
              <a:gd name="adj" fmla="val 25000"/>
            </a:avLst>
          </a:prstGeom>
          <a:solidFill>
            <a:srgbClr val="DC2626">
              <a:alpha val="12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6949440" y="37307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1480" y="4096512"/>
            <a:ext cx="8321040" cy="402336"/>
          </a:xfrm>
          <a:prstGeom prst="rect">
            <a:avLst/>
          </a:prstGeom>
          <a:solidFill>
            <a:srgbClr val="F4F7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3" name="Text 41"/>
          <p:cNvSpPr/>
          <p:nvPr/>
        </p:nvSpPr>
        <p:spPr>
          <a:xfrm>
            <a:off x="502920" y="409651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Allow ICMP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657600" y="409651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12080" y="409651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ICMPv4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949440" y="4169664"/>
            <a:ext cx="1188720" cy="256032"/>
          </a:xfrm>
          <a:prstGeom prst="roundRect">
            <a:avLst>
              <a:gd name="adj" fmla="val 25000"/>
            </a:avLst>
          </a:prstGeom>
          <a:solidFill>
            <a:srgbClr val="059669">
              <a:alpha val="12000"/>
            </a:srgbClr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Text 45"/>
          <p:cNvSpPr/>
          <p:nvPr/>
        </p:nvSpPr>
        <p:spPr>
          <a:xfrm>
            <a:off x="6949440" y="41696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1480" y="4535424"/>
            <a:ext cx="83210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9" name="Text 47"/>
          <p:cNvSpPr/>
          <p:nvPr/>
        </p:nvSpPr>
        <p:spPr>
          <a:xfrm>
            <a:off x="502920" y="453542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Drop Logging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657600" y="453542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ports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212080" y="453542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949440" y="4608576"/>
            <a:ext cx="1188720" cy="256032"/>
          </a:xfrm>
          <a:prstGeom prst="roundRect">
            <a:avLst>
              <a:gd name="adj" fmla="val 25000"/>
            </a:avLst>
          </a:prstGeom>
          <a:solidFill>
            <a:srgbClr val="1E4DB7">
              <a:alpha val="12000"/>
            </a:srgbClr>
          </a:solidFill>
          <a:ln w="635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3" name="Text 51"/>
          <p:cNvSpPr/>
          <p:nvPr/>
        </p:nvSpPr>
        <p:spPr>
          <a:xfrm>
            <a:off x="6949440" y="46085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463040" cy="246888"/>
          </a:xfrm>
          <a:prstGeom prst="roundRect">
            <a:avLst>
              <a:gd name="adj" fmla="val 25926"/>
            </a:avLst>
          </a:prstGeom>
          <a:solidFill>
            <a:srgbClr val="1E4DB7">
              <a:alpha val="12000"/>
            </a:srgbClr>
          </a:solidFill>
          <a:ln w="635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E4DB7"/>
                </a:solidFill>
              </a:rPr>
              <a:t>NMAP SCAN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Scan — Before &amp; After Firewall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Command: nmap -sS --min-rate 200 192.168.100.6  (from Kali Linux)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8321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3931920" cy="347472"/>
          </a:xfrm>
          <a:prstGeom prst="roundRect">
            <a:avLst>
              <a:gd name="adj" fmla="val 21053"/>
            </a:avLst>
          </a:prstGeom>
          <a:solidFill>
            <a:srgbClr val="DC2626">
              <a:alpha val="12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BEFORE Firewall Rules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81328"/>
            <a:ext cx="3977640" cy="347472"/>
          </a:xfrm>
          <a:prstGeom prst="roundRect">
            <a:avLst>
              <a:gd name="adj" fmla="val 21053"/>
            </a:avLst>
          </a:prstGeom>
          <a:solidFill>
            <a:srgbClr val="059669">
              <a:alpha val="12000"/>
            </a:srgbClr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4754880" y="14813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AFTER Firewall Rules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920240"/>
            <a:ext cx="39319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FED7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548640" y="19202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21/tcp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192024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63240" y="2002536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DC2626">
              <a:alpha val="12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3063240" y="20025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920240"/>
            <a:ext cx="39776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4892040" y="19202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21/tcp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192024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52360" y="2002536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059669">
              <a:alpha val="12000"/>
            </a:srgbClr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7452360" y="20025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1480" y="2395728"/>
            <a:ext cx="3931920" cy="420624"/>
          </a:xfrm>
          <a:prstGeom prst="rect">
            <a:avLst/>
          </a:prstGeom>
          <a:solidFill>
            <a:srgbClr val="FFF5F5"/>
          </a:solidFill>
          <a:ln w="3810">
            <a:solidFill>
              <a:srgbClr val="FED7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548640" y="239572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22/tcp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239572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063240" y="2478024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DC2626">
              <a:alpha val="12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3063240" y="24780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395728"/>
            <a:ext cx="3977640" cy="420624"/>
          </a:xfrm>
          <a:prstGeom prst="rect">
            <a:avLst/>
          </a:prstGeom>
          <a:solidFill>
            <a:srgbClr val="F0FDF4"/>
          </a:solidFill>
          <a:ln w="381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4892040" y="239572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22/tcp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239572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52360" y="2478024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059669">
              <a:alpha val="12000"/>
            </a:srgbClr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7452360" y="24780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11480" y="2871216"/>
            <a:ext cx="39319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FED7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548640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23/tcp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920240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Telnet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063240" y="2953512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DC2626">
              <a:alpha val="12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3063240" y="2953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2871216"/>
            <a:ext cx="39776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4892040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23/tcp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63640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Telnet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452360" y="2953512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059669">
              <a:alpha val="12000"/>
            </a:srgbClr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7452360" y="2953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11480" y="3346704"/>
            <a:ext cx="3931920" cy="420624"/>
          </a:xfrm>
          <a:prstGeom prst="rect">
            <a:avLst/>
          </a:prstGeom>
          <a:solidFill>
            <a:srgbClr val="FFF5F5"/>
          </a:solidFill>
          <a:ln w="3810">
            <a:solidFill>
              <a:srgbClr val="FED7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Text 40"/>
          <p:cNvSpPr/>
          <p:nvPr/>
        </p:nvSpPr>
        <p:spPr>
          <a:xfrm>
            <a:off x="548640" y="334670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80/tcp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920240" y="334670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063240" y="3429000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DC2626">
              <a:alpha val="12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Text 43"/>
          <p:cNvSpPr/>
          <p:nvPr/>
        </p:nvSpPr>
        <p:spPr>
          <a:xfrm>
            <a:off x="3063240" y="34290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3346704"/>
            <a:ext cx="3977640" cy="420624"/>
          </a:xfrm>
          <a:prstGeom prst="rect">
            <a:avLst/>
          </a:prstGeom>
          <a:solidFill>
            <a:srgbClr val="F0FDF4"/>
          </a:solidFill>
          <a:ln w="381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Text 45"/>
          <p:cNvSpPr/>
          <p:nvPr/>
        </p:nvSpPr>
        <p:spPr>
          <a:xfrm>
            <a:off x="4892040" y="334670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80/tcp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263640" y="334670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452360" y="3429000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059669">
              <a:alpha val="12000"/>
            </a:srgbClr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0" name="Text 48"/>
          <p:cNvSpPr/>
          <p:nvPr/>
        </p:nvSpPr>
        <p:spPr>
          <a:xfrm>
            <a:off x="7452360" y="34290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11480" y="3822192"/>
            <a:ext cx="39319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FED7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2" name="Text 50"/>
          <p:cNvSpPr/>
          <p:nvPr/>
        </p:nvSpPr>
        <p:spPr>
          <a:xfrm>
            <a:off x="548640" y="382219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443/tcp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920240" y="382219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063240" y="3904488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DC2626">
              <a:alpha val="12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5" name="Text 53"/>
          <p:cNvSpPr/>
          <p:nvPr/>
        </p:nvSpPr>
        <p:spPr>
          <a:xfrm>
            <a:off x="3063240" y="39044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54880" y="3822192"/>
            <a:ext cx="39776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7" name="Text 55"/>
          <p:cNvSpPr/>
          <p:nvPr/>
        </p:nvSpPr>
        <p:spPr>
          <a:xfrm>
            <a:off x="4892040" y="382219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443/tcp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263640" y="382219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452360" y="3904488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059669">
              <a:alpha val="12000"/>
            </a:srgbClr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0" name="Text 58"/>
          <p:cNvSpPr/>
          <p:nvPr/>
        </p:nvSpPr>
        <p:spPr>
          <a:xfrm>
            <a:off x="7452360" y="39044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11480" y="4297680"/>
            <a:ext cx="3931920" cy="420624"/>
          </a:xfrm>
          <a:prstGeom prst="rect">
            <a:avLst/>
          </a:prstGeom>
          <a:solidFill>
            <a:srgbClr val="FFF5F5"/>
          </a:solidFill>
          <a:ln w="3810">
            <a:solidFill>
              <a:srgbClr val="FED7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2" name="Text 60"/>
          <p:cNvSpPr/>
          <p:nvPr/>
        </p:nvSpPr>
        <p:spPr>
          <a:xfrm>
            <a:off x="548640" y="42976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3306/tcp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1920240" y="42976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063240" y="4379976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DC2626">
              <a:alpha val="12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5" name="Text 63"/>
          <p:cNvSpPr/>
          <p:nvPr/>
        </p:nvSpPr>
        <p:spPr>
          <a:xfrm>
            <a:off x="3063240" y="43799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754880" y="4297680"/>
            <a:ext cx="3977640" cy="420624"/>
          </a:xfrm>
          <a:prstGeom prst="rect">
            <a:avLst/>
          </a:prstGeom>
          <a:solidFill>
            <a:srgbClr val="F0FDF4"/>
          </a:solidFill>
          <a:ln w="381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7" name="Text 65"/>
          <p:cNvSpPr/>
          <p:nvPr/>
        </p:nvSpPr>
        <p:spPr>
          <a:xfrm>
            <a:off x="4892040" y="42976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3306/tcp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263640" y="42976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7452360" y="4379976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059669">
              <a:alpha val="12000"/>
            </a:srgbClr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0" name="Text 68"/>
          <p:cNvSpPr/>
          <p:nvPr/>
        </p:nvSpPr>
        <p:spPr>
          <a:xfrm>
            <a:off x="7452360" y="43799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Result: 100% of targeted ports successfully filtered after applying Windows Defender Firewall rules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463040" cy="246888"/>
          </a:xfrm>
          <a:prstGeom prst="roundRect">
            <a:avLst>
              <a:gd name="adj" fmla="val 25926"/>
            </a:avLst>
          </a:prstGeom>
          <a:solidFill>
            <a:srgbClr val="1E4DB7">
              <a:alpha val="12000"/>
            </a:srgbClr>
          </a:solidFill>
          <a:ln w="635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E4DB7"/>
                </a:solidFill>
              </a:rPr>
              <a:t>SNORT IDS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Snort IDS — 6 Custom Rules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rule detects a specific attack pattern and generates an alert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8321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2697480" cy="166420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411480" y="1481328"/>
            <a:ext cx="2697480" cy="457200"/>
          </a:xfrm>
          <a:prstGeom prst="roundRect">
            <a:avLst>
              <a:gd name="adj" fmla="val 28000"/>
            </a:avLst>
          </a:prstGeom>
          <a:solidFill>
            <a:srgbClr val="1E4DB7">
              <a:alpha val="12000"/>
            </a:srgbClr>
          </a:solidFill>
          <a:ln w="635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 SID:1001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" y="2011680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ICMP Ping Detected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21208" y="237744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ping sweep/reconnaissance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1208" y="2743200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1E4DB7">
              <a:alpha val="12000"/>
            </a:srgbClr>
          </a:solidFill>
          <a:ln w="508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21208" y="27432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527048" y="27432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64408" y="1481328"/>
            <a:ext cx="2697480" cy="166420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3264408" y="1481328"/>
            <a:ext cx="2697480" cy="457200"/>
          </a:xfrm>
          <a:prstGeom prst="roundRect">
            <a:avLst>
              <a:gd name="adj" fmla="val 28000"/>
            </a:avLst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3355848" y="14813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SID:1002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74136" y="2011680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Keyword — cmd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74136" y="237744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suspicious HTTP payload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74136" y="2743200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F59E0B">
              <a:alpha val="12000"/>
            </a:srgbClr>
          </a:solidFill>
          <a:ln w="508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3374136" y="27432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79976" y="27432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TCP/80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17336" y="1481328"/>
            <a:ext cx="2697480" cy="166420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6117336" y="1481328"/>
            <a:ext cx="2697480" cy="457200"/>
          </a:xfrm>
          <a:prstGeom prst="roundRect">
            <a:avLst>
              <a:gd name="adj" fmla="val 28000"/>
            </a:avLst>
          </a:prstGeom>
          <a:solidFill>
            <a:srgbClr val="DC2626">
              <a:alpha val="12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6208776" y="14813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SID:1003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27064" y="2011680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Nmap Port Scan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27064" y="237744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SYN port scanning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27064" y="2743200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DC2626">
              <a:alpha val="12000"/>
            </a:srgbClr>
          </a:solidFill>
          <a:ln w="508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6227064" y="27432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232904" y="27432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3310128"/>
            <a:ext cx="2697480" cy="166420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411480" y="3310128"/>
            <a:ext cx="2697480" cy="457200"/>
          </a:xfrm>
          <a:prstGeom prst="roundRect">
            <a:avLst>
              <a:gd name="adj" fmla="val 28000"/>
            </a:avLst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502920" y="33101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 SID:1004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1208" y="3840480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Telnet Attempt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21208" y="420624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Telnet access attempt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21208" y="4572000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F59E0B">
              <a:alpha val="12000"/>
            </a:srgbClr>
          </a:solidFill>
          <a:ln w="508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521208" y="45720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527048" y="45720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TCP/23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64408" y="3310128"/>
            <a:ext cx="2697480" cy="166420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0" name="Shape 38"/>
          <p:cNvSpPr/>
          <p:nvPr/>
        </p:nvSpPr>
        <p:spPr>
          <a:xfrm>
            <a:off x="3264408" y="3310128"/>
            <a:ext cx="2697480" cy="457200"/>
          </a:xfrm>
          <a:prstGeom prst="roundRect">
            <a:avLst>
              <a:gd name="adj" fmla="val 28000"/>
            </a:avLst>
          </a:prstGeom>
          <a:solidFill>
            <a:srgbClr val="DC2626">
              <a:alpha val="12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3355848" y="33101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SID:1005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374136" y="3840480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 Flood DoS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3374136" y="420624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denial of service attack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374136" y="4572000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DC2626">
              <a:alpha val="12000"/>
            </a:srgbClr>
          </a:solidFill>
          <a:ln w="508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Text 43"/>
          <p:cNvSpPr/>
          <p:nvPr/>
        </p:nvSpPr>
        <p:spPr>
          <a:xfrm>
            <a:off x="3374136" y="45720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379976" y="45720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17336" y="3310128"/>
            <a:ext cx="2697480" cy="166420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8" name="Shape 46"/>
          <p:cNvSpPr/>
          <p:nvPr/>
        </p:nvSpPr>
        <p:spPr>
          <a:xfrm>
            <a:off x="6117336" y="3310128"/>
            <a:ext cx="2697480" cy="457200"/>
          </a:xfrm>
          <a:prstGeom prst="roundRect">
            <a:avLst>
              <a:gd name="adj" fmla="val 28000"/>
            </a:avLst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9" name="Text 47"/>
          <p:cNvSpPr/>
          <p:nvPr/>
        </p:nvSpPr>
        <p:spPr>
          <a:xfrm>
            <a:off x="6208776" y="33101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SID:1006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227064" y="3840480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FTP Brute Force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227064" y="420624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repeated FTP login attempts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27064" y="4572000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F59E0B">
              <a:alpha val="12000"/>
            </a:srgbClr>
          </a:solidFill>
          <a:ln w="508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3" name="Text 51"/>
          <p:cNvSpPr/>
          <p:nvPr/>
        </p:nvSpPr>
        <p:spPr>
          <a:xfrm>
            <a:off x="6227064" y="45720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232904" y="45720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463040" cy="246888"/>
          </a:xfrm>
          <a:prstGeom prst="roundRect">
            <a:avLst>
              <a:gd name="adj" fmla="val 25926"/>
            </a:avLst>
          </a:prstGeom>
          <a:solidFill>
            <a:srgbClr val="DC2626">
              <a:alpha val="12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DC2626"/>
                </a:solidFill>
              </a:rPr>
              <a:t>SNORT ALERTS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Snort Alert Results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alerts generated from C:\Snort\log\alert.ids during live testing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8321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196596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4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84632" y="2084832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Alerts Generated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0" y="1481328"/>
            <a:ext cx="196596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2560320" y="155448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SID:1003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33472" y="2084832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Scan Fired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481328"/>
            <a:ext cx="196596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709160" y="155448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SID:1005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82312" y="2084832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 Flood Fired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0" y="1481328"/>
            <a:ext cx="196596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858000" y="155448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931152" y="2084832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Rate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2651760"/>
            <a:ext cx="8321040" cy="2194560"/>
          </a:xfrm>
          <a:prstGeom prst="roundRect">
            <a:avLst>
              <a:gd name="adj" fmla="val 5833"/>
            </a:avLst>
          </a:prstGeom>
          <a:solidFill>
            <a:srgbClr val="0D1117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411480" y="2651760"/>
            <a:ext cx="832104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457200" y="2651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C:\Snort\bin&gt;  type C:\Snort\log\alert.ids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30175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06/11-23:30:12  [**] [1:1003:1] Nmap Port Scan Detected [**] [Priority: 0]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3255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{TCP} 192.168.100.15:54821 -&gt; 192.168.100.6:445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373075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06/11-23:30:12  [**] [1:1005:1] SYN Flood DoS Attempt [**] [Priority: 0]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39684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{TCP} 192.168.100.15:54821 -&gt; 192.168.100.6:443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444398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06/11-23:31:54  [**] [1:1003:1] Nmap Port Scan Detected [**] [Priority: 0]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463040" cy="246888"/>
          </a:xfrm>
          <a:prstGeom prst="roundRect">
            <a:avLst>
              <a:gd name="adj" fmla="val 25926"/>
            </a:avLst>
          </a:prstGeom>
          <a:solidFill>
            <a:srgbClr val="1E4DB7">
              <a:alpha val="12000"/>
            </a:srgbClr>
          </a:solidFill>
          <a:ln w="635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E4DB7"/>
                </a:solidFill>
              </a:rPr>
              <a:t>WIRESHARK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Wireshark Packet Capture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Visually confirmed each attack by capturing network packets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8321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4206240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 ICMP Ping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3931920" cy="237744"/>
          </a:xfrm>
          <a:prstGeom prst="roundRect">
            <a:avLst>
              <a:gd name="adj" fmla="val 23077"/>
            </a:avLst>
          </a:prstGeom>
          <a:solidFill>
            <a:srgbClr val="1A1A2E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94360" y="19019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icmp.type==8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22128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Echo Requests captured from Kali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1481328"/>
            <a:ext cx="4206240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4983480" y="1572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Port Scan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83480" y="1901952"/>
            <a:ext cx="3931920" cy="237744"/>
          </a:xfrm>
          <a:prstGeom prst="roundRect">
            <a:avLst>
              <a:gd name="adj" fmla="val 23077"/>
            </a:avLst>
          </a:prstGeom>
          <a:solidFill>
            <a:srgbClr val="1A1A2E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5029200" y="19019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tcp.flags.syn==1 &amp;&amp; tcp.flags.ack==0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83480" y="22128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SYN packets to all ports confirmed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651760"/>
            <a:ext cx="4206240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548640" y="2743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  Telnet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072384"/>
            <a:ext cx="3931920" cy="237744"/>
          </a:xfrm>
          <a:prstGeom prst="roundRect">
            <a:avLst>
              <a:gd name="adj" fmla="val 23077"/>
            </a:avLst>
          </a:prstGeom>
          <a:solidFill>
            <a:srgbClr val="1A1A2E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594360" y="30723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tcp.port==23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33832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 to port 23 — no response (blocked)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2651760"/>
            <a:ext cx="4206240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983480" y="2743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🟣  HTTP Keyword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83480" y="3072384"/>
            <a:ext cx="3931920" cy="237744"/>
          </a:xfrm>
          <a:prstGeom prst="roundRect">
            <a:avLst>
              <a:gd name="adj" fmla="val 23077"/>
            </a:avLst>
          </a:prstGeom>
          <a:solidFill>
            <a:srgbClr val="1A1A2E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5029200" y="30723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tcp.port==80 &amp;&amp; frame contains "cmd"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83480" y="33832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HTTP payload detected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3822192"/>
            <a:ext cx="4206240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548640" y="39136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SYN Flood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242816"/>
            <a:ext cx="3931920" cy="237744"/>
          </a:xfrm>
          <a:prstGeom prst="roundRect">
            <a:avLst>
              <a:gd name="adj" fmla="val 23077"/>
            </a:avLst>
          </a:prstGeom>
          <a:solidFill>
            <a:srgbClr val="1A1A2E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594360" y="42428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tcp.flags.syn==1 &amp;&amp; tcp.flags.ack==0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8640" y="45537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High-rate SYN packets — DoS pattern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3822192"/>
            <a:ext cx="4206240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4983480" y="39136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  FTP Brute Force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83480" y="4242816"/>
            <a:ext cx="3931920" cy="237744"/>
          </a:xfrm>
          <a:prstGeom prst="roundRect">
            <a:avLst>
              <a:gd name="adj" fmla="val 23077"/>
            </a:avLst>
          </a:prstGeom>
          <a:solidFill>
            <a:srgbClr val="1A1A2E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5029200" y="42428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tcp.port==21 &amp;&amp; frame contains "USER"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983480" y="45537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USER commands detected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463040" cy="246888"/>
          </a:xfrm>
          <a:prstGeom prst="roundRect">
            <a:avLst>
              <a:gd name="adj" fmla="val 25926"/>
            </a:avLst>
          </a:prstGeom>
          <a:solidFill>
            <a:srgbClr val="1E4DB7">
              <a:alpha val="12000"/>
            </a:srgbClr>
          </a:solidFill>
          <a:ln w="635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E4DB7"/>
                </a:solidFill>
              </a:rPr>
              <a:t>SOC DASHBOARD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Dashboard — Built with Python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SIEM tool — 12 pages, 3 user roles, live Snort alert integration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8321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4206240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Live Snort Feed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9568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alert.ids in real-time — 864 alerts loaded automatically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481328"/>
            <a:ext cx="4206240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4983480" y="15727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 Attack Simulation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9568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all 6 attack types and see alerts generate live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651760"/>
            <a:ext cx="4206240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8640" y="2743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Incident Response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12724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detailed IR reports — attack, rule fired, recommended response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651760"/>
            <a:ext cx="4206240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4983480" y="2743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 MITRE ATT&amp;CK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312724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threat matrix mapped to all 6 Snort rules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822192"/>
            <a:ext cx="4206240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548640" y="39136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RBAC Login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Analyst / Viewer — role-based access control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3822192"/>
            <a:ext cx="4206240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983480" y="39136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Audit Log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429768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user action logged with timestamp — full accountability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477316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Run: python -m streamlit run app.py   |   Login: admin / admin123   |   URL: localhost:8501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463040" cy="246888"/>
          </a:xfrm>
          <a:prstGeom prst="roundRect">
            <a:avLst>
              <a:gd name="adj" fmla="val 25926"/>
            </a:avLst>
          </a:prstGeom>
          <a:solidFill>
            <a:srgbClr val="1E4DB7">
              <a:alpha val="12000"/>
            </a:srgbClr>
          </a:solidFill>
          <a:ln w="635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E4DB7"/>
                </a:solidFill>
              </a:rPr>
              <a:t>MITRE ATT&amp;CK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ATT&amp;CK Threat Mapping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attack mapped to real-world threat framework techniques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8321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8321040" cy="329184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14813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49040" y="14813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Name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52160" y="14813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23760" y="14813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Snort Rule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1883664"/>
            <a:ext cx="83210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502920" y="1965960"/>
            <a:ext cx="1554480" cy="274320"/>
          </a:xfrm>
          <a:prstGeom prst="roundRect">
            <a:avLst>
              <a:gd name="adj" fmla="val 23333"/>
            </a:avLst>
          </a:prstGeom>
          <a:solidFill>
            <a:srgbClr val="1E4DB7">
              <a:alpha val="12000"/>
            </a:srgbClr>
          </a:solidFill>
          <a:ln w="508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50292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4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Reconnaissance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194560" y="188366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4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T1046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49040" y="188366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Service Scanning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52160" y="188366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Nmap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23760" y="1975104"/>
            <a:ext cx="1280160" cy="256032"/>
          </a:xfrm>
          <a:prstGeom prst="roundRect">
            <a:avLst>
              <a:gd name="adj" fmla="val 25000"/>
            </a:avLst>
          </a:prstGeom>
          <a:solidFill>
            <a:srgbClr val="DC2626">
              <a:alpha val="12000"/>
            </a:srgbClr>
          </a:solidFill>
          <a:ln w="508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7223760" y="19751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SID:1003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2377440"/>
            <a:ext cx="8321040" cy="438912"/>
          </a:xfrm>
          <a:prstGeom prst="rect">
            <a:avLst/>
          </a:prstGeom>
          <a:solidFill>
            <a:srgbClr val="F4F7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502920" y="2459736"/>
            <a:ext cx="1554480" cy="274320"/>
          </a:xfrm>
          <a:prstGeom prst="roundRect">
            <a:avLst>
              <a:gd name="adj" fmla="val 23333"/>
            </a:avLst>
          </a:prstGeom>
          <a:solidFill>
            <a:srgbClr val="DC2626">
              <a:alpha val="12000"/>
            </a:srgbClr>
          </a:solidFill>
          <a:ln w="508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502920" y="24597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Initial Access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194560" y="23774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4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T1190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49040" y="23774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 Public App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52160" y="237744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Attack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23760" y="2468880"/>
            <a:ext cx="1280160" cy="256032"/>
          </a:xfrm>
          <a:prstGeom prst="roundRect">
            <a:avLst>
              <a:gd name="adj" fmla="val 25000"/>
            </a:avLst>
          </a:prstGeom>
          <a:solidFill>
            <a:srgbClr val="DC2626">
              <a:alpha val="12000"/>
            </a:srgbClr>
          </a:solidFill>
          <a:ln w="508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7223760" y="24688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SID:1002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2871216"/>
            <a:ext cx="83210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502920" y="2953512"/>
            <a:ext cx="1554480" cy="274320"/>
          </a:xfrm>
          <a:prstGeom prst="roundRect">
            <a:avLst>
              <a:gd name="adj" fmla="val 23333"/>
            </a:avLst>
          </a:prstGeom>
          <a:solidFill>
            <a:srgbClr val="7C3AED">
              <a:alpha val="12000"/>
            </a:srgbClr>
          </a:solidFill>
          <a:ln w="508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502920" y="29535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 Lateral Movement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194560" y="287121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4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T1021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49040" y="287121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Services (Telnet)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52160" y="287121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Telnet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223760" y="2962656"/>
            <a:ext cx="1280160" cy="256032"/>
          </a:xfrm>
          <a:prstGeom prst="roundRect">
            <a:avLst>
              <a:gd name="adj" fmla="val 25000"/>
            </a:avLst>
          </a:prstGeom>
          <a:solidFill>
            <a:srgbClr val="DC2626">
              <a:alpha val="12000"/>
            </a:srgbClr>
          </a:solidFill>
          <a:ln w="508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7223760" y="29626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SID:1004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11480" y="3364992"/>
            <a:ext cx="8321040" cy="438912"/>
          </a:xfrm>
          <a:prstGeom prst="rect">
            <a:avLst/>
          </a:prstGeom>
          <a:solidFill>
            <a:srgbClr val="F4F7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8" name="Shape 36"/>
          <p:cNvSpPr/>
          <p:nvPr/>
        </p:nvSpPr>
        <p:spPr>
          <a:xfrm>
            <a:off x="502920" y="3447288"/>
            <a:ext cx="1554480" cy="274320"/>
          </a:xfrm>
          <a:prstGeom prst="roundRect">
            <a:avLst>
              <a:gd name="adj" fmla="val 23333"/>
            </a:avLst>
          </a:prstGeom>
          <a:solidFill>
            <a:srgbClr val="F59E0B">
              <a:alpha val="12000"/>
            </a:srgbClr>
          </a:solidFill>
          <a:ln w="508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502920" y="34472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 Discovery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194560" y="336499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4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T1018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749040" y="336499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System Discovery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852160" y="336499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 Sweep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23760" y="3456432"/>
            <a:ext cx="1280160" cy="256032"/>
          </a:xfrm>
          <a:prstGeom prst="roundRect">
            <a:avLst>
              <a:gd name="adj" fmla="val 25000"/>
            </a:avLst>
          </a:prstGeom>
          <a:solidFill>
            <a:srgbClr val="DC2626">
              <a:alpha val="12000"/>
            </a:srgbClr>
          </a:solidFill>
          <a:ln w="508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4" name="Text 42"/>
          <p:cNvSpPr/>
          <p:nvPr/>
        </p:nvSpPr>
        <p:spPr>
          <a:xfrm>
            <a:off x="7223760" y="34564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SID:1001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1480" y="3858768"/>
            <a:ext cx="83210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6" name="Shape 44"/>
          <p:cNvSpPr/>
          <p:nvPr/>
        </p:nvSpPr>
        <p:spPr>
          <a:xfrm>
            <a:off x="502920" y="3941064"/>
            <a:ext cx="1554480" cy="274320"/>
          </a:xfrm>
          <a:prstGeom prst="roundRect">
            <a:avLst>
              <a:gd name="adj" fmla="val 23333"/>
            </a:avLst>
          </a:prstGeom>
          <a:solidFill>
            <a:srgbClr val="DC2626">
              <a:alpha val="12000"/>
            </a:srgbClr>
          </a:solidFill>
          <a:ln w="508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Text 45"/>
          <p:cNvSpPr/>
          <p:nvPr/>
        </p:nvSpPr>
        <p:spPr>
          <a:xfrm>
            <a:off x="502920" y="39410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Impact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194560" y="38587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4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T1498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749040" y="385876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Denial of Service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852160" y="385876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 Flood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223760" y="3950208"/>
            <a:ext cx="1280160" cy="256032"/>
          </a:xfrm>
          <a:prstGeom prst="roundRect">
            <a:avLst>
              <a:gd name="adj" fmla="val 25000"/>
            </a:avLst>
          </a:prstGeom>
          <a:solidFill>
            <a:srgbClr val="DC2626">
              <a:alpha val="12000"/>
            </a:srgbClr>
          </a:solidFill>
          <a:ln w="508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2" name="Text 50"/>
          <p:cNvSpPr/>
          <p:nvPr/>
        </p:nvSpPr>
        <p:spPr>
          <a:xfrm>
            <a:off x="7223760" y="39502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SID:1005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11480" y="4352544"/>
            <a:ext cx="8321040" cy="438912"/>
          </a:xfrm>
          <a:prstGeom prst="rect">
            <a:avLst/>
          </a:prstGeom>
          <a:solidFill>
            <a:srgbClr val="F4F7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4" name="Shape 52"/>
          <p:cNvSpPr/>
          <p:nvPr/>
        </p:nvSpPr>
        <p:spPr>
          <a:xfrm>
            <a:off x="502920" y="4434840"/>
            <a:ext cx="1554480" cy="274320"/>
          </a:xfrm>
          <a:prstGeom prst="roundRect">
            <a:avLst>
              <a:gd name="adj" fmla="val 23333"/>
            </a:avLst>
          </a:prstGeom>
          <a:solidFill>
            <a:srgbClr val="059669">
              <a:alpha val="12000"/>
            </a:srgbClr>
          </a:solidFill>
          <a:ln w="508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5" name="Text 53"/>
          <p:cNvSpPr/>
          <p:nvPr/>
        </p:nvSpPr>
        <p:spPr>
          <a:xfrm>
            <a:off x="502920" y="4434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Credential Access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194560" y="435254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4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T1110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749040" y="435254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 FTP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852160" y="435254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223760" y="4443984"/>
            <a:ext cx="1280160" cy="256032"/>
          </a:xfrm>
          <a:prstGeom prst="roundRect">
            <a:avLst>
              <a:gd name="adj" fmla="val 25000"/>
            </a:avLst>
          </a:prstGeom>
          <a:solidFill>
            <a:srgbClr val="DC2626">
              <a:alpha val="12000"/>
            </a:srgbClr>
          </a:solidFill>
          <a:ln w="508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0" name="Text 58"/>
          <p:cNvSpPr/>
          <p:nvPr/>
        </p:nvSpPr>
        <p:spPr>
          <a:xfrm>
            <a:off x="7223760" y="44439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SID:1006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463040" cy="246888"/>
          </a:xfrm>
          <a:prstGeom prst="roundRect">
            <a:avLst>
              <a:gd name="adj" fmla="val 25926"/>
            </a:avLst>
          </a:prstGeom>
          <a:solidFill>
            <a:srgbClr val="1E4DB7">
              <a:alpha val="12000"/>
            </a:srgbClr>
          </a:solidFill>
          <a:ln w="635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E4DB7"/>
                </a:solidFill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Results &amp; Findings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8321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196596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864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Snort Alerts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261872"/>
            <a:ext cx="196596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2560320" y="1325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51760" y="1920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Ports Filtered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261872"/>
            <a:ext cx="196596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4709160" y="1325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4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800600" y="1920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Rules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1261872"/>
            <a:ext cx="196596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6858000" y="1325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949440" y="1920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Reports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542032"/>
            <a:ext cx="83210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502920" y="254203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Firewall blocked all 6 targeted ports — 100% filtering rate confirmed by Nmap scan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2944368"/>
            <a:ext cx="8321040" cy="365760"/>
          </a:xfrm>
          <a:prstGeom prst="rect">
            <a:avLst/>
          </a:prstGeom>
          <a:solidFill>
            <a:srgbClr val="F4F7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502920" y="294436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Snort IDS generated 864 real alerts — SID:1003 and SID:1005 most triggered rules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346704"/>
            <a:ext cx="83210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502920" y="3346704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Wireshark visually confirmed ICMP ping packets from Kali Linux in real-time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749040"/>
            <a:ext cx="8321040" cy="365760"/>
          </a:xfrm>
          <a:prstGeom prst="rect">
            <a:avLst/>
          </a:prstGeom>
          <a:solidFill>
            <a:srgbClr val="F4F7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502920" y="37490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SOC Dashboard built with 12 pages, 3 roles, and live Snort feed integration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4151376"/>
            <a:ext cx="83210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502920" y="415137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MySQL port 3306 found open during scan — additional rule applied (bonus finding)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1480" y="4553712"/>
            <a:ext cx="8321040" cy="365760"/>
          </a:xfrm>
          <a:prstGeom prst="rect">
            <a:avLst/>
          </a:prstGeom>
          <a:solidFill>
            <a:srgbClr val="F4F7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502920" y="45537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All 6 attacks mapped to MITRE ATT&amp;CK framework techniques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Successfully</a:t>
            </a:r>
            <a:endParaRPr lang="en-US" sz="3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566928" y="239572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566928" y="2395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3500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Security Works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60604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 blocks + IDS detects = stronger protection than either alone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944368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566928" y="30540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566928" y="3054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008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Attacks Simulated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26440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Successfully tested ICMP, Port Scan, Telnet, SYN Flood, HTTP &amp; FTP attacks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02736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566928" y="371246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566928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6667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 Built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392277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Dashboard with real Snort alerts — professional SIEM-style tool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261104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566928" y="437083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566928" y="4370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3251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458114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Snort in IPS mode + integrate with Splunk or Wazuh SIEM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—  Questions Welcome!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1363</Words>
  <Application>Microsoft Office PowerPoint</Application>
  <PresentationFormat>On-screen Show (16:9)</PresentationFormat>
  <Paragraphs>353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Firewall &amp; IDS — Windows Defender + Snort</dc:title>
  <dc:subject>PptxGenJS Presentation</dc:subject>
  <dc:creator>PptxGenJS</dc:creator>
  <cp:lastModifiedBy>Malik Abubakar</cp:lastModifiedBy>
  <cp:revision>2</cp:revision>
  <dcterms:created xsi:type="dcterms:W3CDTF">2026-06-11T20:56:41Z</dcterms:created>
  <dcterms:modified xsi:type="dcterms:W3CDTF">2026-06-11T21:00:47Z</dcterms:modified>
</cp:coreProperties>
</file>